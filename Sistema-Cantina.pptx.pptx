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al Bold" charset="1" panose="020B0704020202020204"/>
      <p:regular r:id="rId16"/>
    </p:embeddedFont>
    <p:embeddedFont>
      <p:font typeface="Arial" charset="1" panose="020B06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23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Apresente o grupo e o problema: o controle manual de uma cantina gera falta de mercadoria, desperdício e diferença entre o estoque real e o registrado.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Explique que o cenário é acadêmico: a entrevista foi simulada com IA e as informações representam um caso de estudo, não uma funcionária real. Dela saíram as funcionalidades e as regras de negócio, como a de que o estoque nunca fica negativo.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Mostre o protótipo desenhado no papel e explique que ele serviu de base para a interface final do sistema.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Mostre que é uma stack simples e rápida, que combina com a proposta da disciplina. Explique como a IA (ChatGPT e Claude) foi usada: na entrevista de requisitos e no apoio ao desenvolvimento (ajustes, correção de erros e publicação).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Percorra as funções na ordem em que o usuário usa. Se possível, mostre prints das telas (login, lista de produtos, alertas) ou faça a demonstração ao vivo.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Reproduza o vídeo mostrando: login, cadastro de produto, entrada, saída e os alertas de estoque baixo e validade.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Feche com o resultado e o aprendizado, e deixe o link do app para o professor abrir.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4583" y="2364743"/>
            <a:ext cx="1488443" cy="1488443"/>
            <a:chOff x="0" y="0"/>
            <a:chExt cx="1984591" cy="19845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4629" cy="1984629"/>
            </a:xfrm>
            <a:custGeom>
              <a:avLst/>
              <a:gdLst/>
              <a:ahLst/>
              <a:cxnLst/>
              <a:rect r="r" b="b" t="t" l="l"/>
              <a:pathLst>
                <a:path h="1984629" w="1984629">
                  <a:moveTo>
                    <a:pt x="0" y="372110"/>
                  </a:moveTo>
                  <a:cubicBezTo>
                    <a:pt x="0" y="166624"/>
                    <a:pt x="166624" y="0"/>
                    <a:pt x="372110" y="0"/>
                  </a:cubicBezTo>
                  <a:lnTo>
                    <a:pt x="1612519" y="0"/>
                  </a:lnTo>
                  <a:cubicBezTo>
                    <a:pt x="1818005" y="0"/>
                    <a:pt x="1984629" y="166624"/>
                    <a:pt x="1984629" y="372110"/>
                  </a:cubicBezTo>
                  <a:lnTo>
                    <a:pt x="1984629" y="1612519"/>
                  </a:lnTo>
                  <a:cubicBezTo>
                    <a:pt x="1984629" y="1818005"/>
                    <a:pt x="1818005" y="1984629"/>
                    <a:pt x="1612519" y="1984629"/>
                  </a:cubicBezTo>
                  <a:lnTo>
                    <a:pt x="372110" y="1984629"/>
                  </a:lnTo>
                  <a:cubicBezTo>
                    <a:pt x="166624" y="1984629"/>
                    <a:pt x="0" y="1818005"/>
                    <a:pt x="0" y="1612519"/>
                  </a:cubicBezTo>
                  <a:close/>
                </a:path>
              </a:pathLst>
            </a:custGeom>
            <a:solidFill>
              <a:srgbClr val="3B82F6"/>
            </a:solidFill>
            <a:ln w="25400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2377440"/>
            <a:ext cx="1463040" cy="1463040"/>
            <a:chOff x="0" y="0"/>
            <a:chExt cx="1950720" cy="1950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95072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7280" y="4297680"/>
            <a:ext cx="16093440" cy="548640"/>
            <a:chOff x="0" y="0"/>
            <a:chExt cx="2145792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4579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00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DESENVOLVIMENTO RÁPIDO DE APLICAÇÕES EM PYTHON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4937760"/>
            <a:ext cx="16093440" cy="1645920"/>
            <a:chOff x="0" y="0"/>
            <a:chExt cx="21457920" cy="2194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579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45792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59"/>
                </a:lnSpc>
              </a:pPr>
              <a:r>
                <a:rPr lang="en-US" sz="8799" b="true">
                  <a:solidFill>
                    <a:srgbClr val="EEF2F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Sistema Cantina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6583680"/>
            <a:ext cx="16093440" cy="822960"/>
            <a:chOff x="0" y="0"/>
            <a:chExt cx="2145792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45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040" r="0" b="-33104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145792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8A97B0"/>
                  </a:solidFill>
                  <a:latin typeface="Arial"/>
                  <a:ea typeface="Arial"/>
                  <a:cs typeface="Arial"/>
                  <a:sym typeface="Arial"/>
                </a:rPr>
                <a:t>Controle de estoque e vendas para cantina escolar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8778240"/>
            <a:ext cx="16093440" cy="548640"/>
            <a:chOff x="0" y="0"/>
            <a:chExt cx="2145792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45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561" r="0" b="-52156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14579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2DD4B0"/>
                  </a:solidFill>
                  <a:latin typeface="Arial"/>
                  <a:ea typeface="Arial"/>
                  <a:cs typeface="Arial"/>
                  <a:sym typeface="Arial"/>
                </a:rPr>
                <a:t>Antonio Rodrigues ·  Luis Henrique  ·  José Vitor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4583" y="993143"/>
            <a:ext cx="171707" cy="939803"/>
            <a:chOff x="0" y="0"/>
            <a:chExt cx="228943" cy="1253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81" cy="1253109"/>
            </a:xfrm>
            <a:custGeom>
              <a:avLst/>
              <a:gdLst/>
              <a:ahLst/>
              <a:cxnLst/>
              <a:rect r="r" b="b" t="t" l="l"/>
              <a:pathLst>
                <a:path h="1253109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3B82F6"/>
            </a:solidFill>
            <a:ln w="25400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54480" y="914400"/>
            <a:ext cx="15636240" cy="1097280"/>
            <a:chOff x="0" y="0"/>
            <a:chExt cx="2084832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48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08483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EEF2F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Levantamento de requisitos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84583" y="2730503"/>
            <a:ext cx="7797803" cy="2860043"/>
            <a:chOff x="0" y="0"/>
            <a:chExt cx="10397071" cy="38133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96982" cy="3813302"/>
            </a:xfrm>
            <a:custGeom>
              <a:avLst/>
              <a:gdLst/>
              <a:ahLst/>
              <a:cxnLst/>
              <a:rect r="r" b="b" t="t" l="l"/>
              <a:pathLst>
                <a:path h="3813302" w="10396982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10150983" y="0"/>
                  </a:lnTo>
                  <a:cubicBezTo>
                    <a:pt x="10286873" y="0"/>
                    <a:pt x="10396982" y="110109"/>
                    <a:pt x="10396982" y="245999"/>
                  </a:cubicBezTo>
                  <a:lnTo>
                    <a:pt x="10396982" y="3567303"/>
                  </a:lnTo>
                  <a:cubicBezTo>
                    <a:pt x="10396982" y="3703193"/>
                    <a:pt x="10286873" y="3813302"/>
                    <a:pt x="10150983" y="3813302"/>
                  </a:cubicBezTo>
                  <a:lnTo>
                    <a:pt x="245999" y="3813302"/>
                  </a:lnTo>
                  <a:cubicBezTo>
                    <a:pt x="110109" y="3813429"/>
                    <a:pt x="0" y="3703193"/>
                    <a:pt x="0" y="3567303"/>
                  </a:cubicBezTo>
                  <a:close/>
                </a:path>
              </a:pathLst>
            </a:custGeom>
            <a:solidFill>
              <a:srgbClr val="141D31"/>
            </a:solidFill>
            <a:ln w="25400" cap="sq">
              <a:solidFill>
                <a:srgbClr val="222D45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45920" y="3200400"/>
            <a:ext cx="6675120" cy="548640"/>
            <a:chOff x="0" y="0"/>
            <a:chExt cx="890016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00160" cy="731520"/>
            </a:xfrm>
            <a:custGeom>
              <a:avLst/>
              <a:gdLst/>
              <a:ahLst/>
              <a:cxnLst/>
              <a:rect r="r" b="b" t="t" l="l"/>
              <a:pathLst>
                <a:path h="73152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067" r="0" b="-18706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89001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2DD4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CENÁRIO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45920" y="3811905"/>
            <a:ext cx="6675120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EEF2F8"/>
                </a:solidFill>
                <a:latin typeface="Arial"/>
                <a:ea typeface="Arial"/>
                <a:cs typeface="Arial"/>
                <a:sym typeface="Arial"/>
              </a:rPr>
              <a:t>Escola Novo Futuro (ENF)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05623" y="2730503"/>
            <a:ext cx="7797803" cy="2860043"/>
            <a:chOff x="0" y="0"/>
            <a:chExt cx="10397071" cy="38133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96982" cy="3813302"/>
            </a:xfrm>
            <a:custGeom>
              <a:avLst/>
              <a:gdLst/>
              <a:ahLst/>
              <a:cxnLst/>
              <a:rect r="r" b="b" t="t" l="l"/>
              <a:pathLst>
                <a:path h="3813302" w="10396982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10150983" y="0"/>
                  </a:lnTo>
                  <a:cubicBezTo>
                    <a:pt x="10286873" y="0"/>
                    <a:pt x="10396982" y="110109"/>
                    <a:pt x="10396982" y="245999"/>
                  </a:cubicBezTo>
                  <a:lnTo>
                    <a:pt x="10396982" y="3567303"/>
                  </a:lnTo>
                  <a:cubicBezTo>
                    <a:pt x="10396982" y="3703193"/>
                    <a:pt x="10286873" y="3813302"/>
                    <a:pt x="10150983" y="3813302"/>
                  </a:cubicBezTo>
                  <a:lnTo>
                    <a:pt x="245999" y="3813302"/>
                  </a:lnTo>
                  <a:cubicBezTo>
                    <a:pt x="110109" y="3813429"/>
                    <a:pt x="0" y="3703193"/>
                    <a:pt x="0" y="3567303"/>
                  </a:cubicBezTo>
                  <a:close/>
                </a:path>
              </a:pathLst>
            </a:custGeom>
            <a:solidFill>
              <a:srgbClr val="141D31"/>
            </a:solidFill>
            <a:ln w="25400" cap="sq">
              <a:solidFill>
                <a:srgbClr val="222D45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966960" y="3200400"/>
            <a:ext cx="6675120" cy="548640"/>
            <a:chOff x="0" y="0"/>
            <a:chExt cx="890016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00160" cy="731520"/>
            </a:xfrm>
            <a:custGeom>
              <a:avLst/>
              <a:gdLst/>
              <a:ahLst/>
              <a:cxnLst/>
              <a:rect r="r" b="b" t="t" l="l"/>
              <a:pathLst>
                <a:path h="73152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067" r="0" b="-18706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9001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2DD4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ENTREVISTA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966960" y="3811905"/>
            <a:ext cx="6675120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EEF2F8"/>
                </a:solidFill>
                <a:latin typeface="Arial"/>
                <a:ea typeface="Arial"/>
                <a:cs typeface="Arial"/>
                <a:sym typeface="Arial"/>
              </a:rPr>
              <a:t>Simulada com IA, representando a responsável pela cantina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84583" y="6113783"/>
            <a:ext cx="7797803" cy="2860043"/>
            <a:chOff x="0" y="0"/>
            <a:chExt cx="10397071" cy="38133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396982" cy="3813302"/>
            </a:xfrm>
            <a:custGeom>
              <a:avLst/>
              <a:gdLst/>
              <a:ahLst/>
              <a:cxnLst/>
              <a:rect r="r" b="b" t="t" l="l"/>
              <a:pathLst>
                <a:path h="3813302" w="10396982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10150983" y="0"/>
                  </a:lnTo>
                  <a:cubicBezTo>
                    <a:pt x="10286873" y="0"/>
                    <a:pt x="10396982" y="110109"/>
                    <a:pt x="10396982" y="245999"/>
                  </a:cubicBezTo>
                  <a:lnTo>
                    <a:pt x="10396982" y="3567303"/>
                  </a:lnTo>
                  <a:cubicBezTo>
                    <a:pt x="10396982" y="3703193"/>
                    <a:pt x="10286873" y="3813302"/>
                    <a:pt x="10150983" y="3813302"/>
                  </a:cubicBezTo>
                  <a:lnTo>
                    <a:pt x="245999" y="3813302"/>
                  </a:lnTo>
                  <a:cubicBezTo>
                    <a:pt x="110109" y="3813429"/>
                    <a:pt x="0" y="3703193"/>
                    <a:pt x="0" y="3567303"/>
                  </a:cubicBezTo>
                  <a:close/>
                </a:path>
              </a:pathLst>
            </a:custGeom>
            <a:solidFill>
              <a:srgbClr val="141D31"/>
            </a:solidFill>
            <a:ln w="25400" cap="sq">
              <a:solidFill>
                <a:srgbClr val="222D45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645920" y="6583680"/>
            <a:ext cx="6675120" cy="548640"/>
            <a:chOff x="0" y="0"/>
            <a:chExt cx="890016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00160" cy="731520"/>
            </a:xfrm>
            <a:custGeom>
              <a:avLst/>
              <a:gdLst/>
              <a:ahLst/>
              <a:cxnLst/>
              <a:rect r="r" b="b" t="t" l="l"/>
              <a:pathLst>
                <a:path h="73152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067" r="0" b="-18706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89001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2DD4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USUÁRIOS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645920" y="7195185"/>
            <a:ext cx="6675120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EEF2F8"/>
                </a:solidFill>
                <a:latin typeface="Arial"/>
                <a:ea typeface="Arial"/>
                <a:cs typeface="Arial"/>
                <a:sym typeface="Arial"/>
              </a:rPr>
              <a:t>Responsável pela cantina e direção da escola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405623" y="6113783"/>
            <a:ext cx="7797803" cy="2860043"/>
            <a:chOff x="0" y="0"/>
            <a:chExt cx="10397071" cy="38133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396982" cy="3813302"/>
            </a:xfrm>
            <a:custGeom>
              <a:avLst/>
              <a:gdLst/>
              <a:ahLst/>
              <a:cxnLst/>
              <a:rect r="r" b="b" t="t" l="l"/>
              <a:pathLst>
                <a:path h="3813302" w="10396982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10150983" y="0"/>
                  </a:lnTo>
                  <a:cubicBezTo>
                    <a:pt x="10286873" y="0"/>
                    <a:pt x="10396982" y="110109"/>
                    <a:pt x="10396982" y="245999"/>
                  </a:cubicBezTo>
                  <a:lnTo>
                    <a:pt x="10396982" y="3567303"/>
                  </a:lnTo>
                  <a:cubicBezTo>
                    <a:pt x="10396982" y="3703193"/>
                    <a:pt x="10286873" y="3813302"/>
                    <a:pt x="10150983" y="3813302"/>
                  </a:cubicBezTo>
                  <a:lnTo>
                    <a:pt x="245999" y="3813302"/>
                  </a:lnTo>
                  <a:cubicBezTo>
                    <a:pt x="110109" y="3813429"/>
                    <a:pt x="0" y="3703193"/>
                    <a:pt x="0" y="3567303"/>
                  </a:cubicBezTo>
                  <a:close/>
                </a:path>
              </a:pathLst>
            </a:custGeom>
            <a:solidFill>
              <a:srgbClr val="141D31"/>
            </a:solidFill>
            <a:ln w="25400" cap="sq">
              <a:solidFill>
                <a:srgbClr val="222D45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966960" y="6583680"/>
            <a:ext cx="6675120" cy="548640"/>
            <a:chOff x="0" y="0"/>
            <a:chExt cx="890016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900160" cy="731520"/>
            </a:xfrm>
            <a:custGeom>
              <a:avLst/>
              <a:gdLst/>
              <a:ahLst/>
              <a:cxnLst/>
              <a:rect r="r" b="b" t="t" l="l"/>
              <a:pathLst>
                <a:path h="73152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067" r="0" b="-18706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89001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2DD4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REQUISITOS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966960" y="7195185"/>
            <a:ext cx="6675120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EEF2F8"/>
                </a:solidFill>
                <a:latin typeface="Arial"/>
                <a:ea typeface="Arial"/>
                <a:cs typeface="Arial"/>
                <a:sym typeface="Arial"/>
              </a:rPr>
              <a:t>Cadastro, entradas e saídas, estoque baixo e controle de validade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4583" y="993143"/>
            <a:ext cx="171707" cy="939803"/>
            <a:chOff x="0" y="0"/>
            <a:chExt cx="228943" cy="1253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81" cy="1253109"/>
            </a:xfrm>
            <a:custGeom>
              <a:avLst/>
              <a:gdLst/>
              <a:ahLst/>
              <a:cxnLst/>
              <a:rect r="r" b="b" t="t" l="l"/>
              <a:pathLst>
                <a:path h="1253109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3B82F6"/>
            </a:solidFill>
            <a:ln w="25400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54480" y="914400"/>
            <a:ext cx="15636240" cy="1097280"/>
            <a:chOff x="0" y="0"/>
            <a:chExt cx="2084832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48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08483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EEF2F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Protótipo inicial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8230" y="2541270"/>
            <a:ext cx="10828020" cy="6987540"/>
            <a:chOff x="0" y="0"/>
            <a:chExt cx="14437360" cy="9316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437361" cy="9316720"/>
            </a:xfrm>
            <a:custGeom>
              <a:avLst/>
              <a:gdLst/>
              <a:ahLst/>
              <a:cxnLst/>
              <a:rect r="r" b="b" t="t" l="l"/>
              <a:pathLst>
                <a:path h="9316720" w="14437361">
                  <a:moveTo>
                    <a:pt x="0" y="294259"/>
                  </a:moveTo>
                  <a:cubicBezTo>
                    <a:pt x="0" y="131699"/>
                    <a:pt x="131699" y="0"/>
                    <a:pt x="294259" y="0"/>
                  </a:cubicBezTo>
                  <a:lnTo>
                    <a:pt x="14143101" y="0"/>
                  </a:lnTo>
                  <a:cubicBezTo>
                    <a:pt x="14305535" y="0"/>
                    <a:pt x="14437361" y="131699"/>
                    <a:pt x="14437361" y="294259"/>
                  </a:cubicBezTo>
                  <a:lnTo>
                    <a:pt x="14437361" y="9022461"/>
                  </a:lnTo>
                  <a:cubicBezTo>
                    <a:pt x="14437361" y="9184894"/>
                    <a:pt x="14305662" y="9316720"/>
                    <a:pt x="14143101" y="9316720"/>
                  </a:cubicBezTo>
                  <a:lnTo>
                    <a:pt x="294259" y="9316720"/>
                  </a:lnTo>
                  <a:cubicBezTo>
                    <a:pt x="131699" y="9316720"/>
                    <a:pt x="0" y="9185021"/>
                    <a:pt x="0" y="9022461"/>
                  </a:cubicBezTo>
                  <a:close/>
                </a:path>
              </a:pathLst>
            </a:custGeom>
            <a:blipFill>
              <a:blip r:embed="rId4"/>
              <a:stretch>
                <a:fillRect l="0" t="-7384" r="0" b="-7384"/>
              </a:stretch>
            </a:blipFill>
            <a:ln w="38100" cap="sq">
              <a:solidFill>
                <a:srgbClr val="3B82F6"/>
              </a:solidFill>
              <a:prstDash val="dash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423143" y="2547623"/>
            <a:ext cx="4780283" cy="6974843"/>
            <a:chOff x="0" y="0"/>
            <a:chExt cx="6373711" cy="92997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73622" cy="9299702"/>
            </a:xfrm>
            <a:custGeom>
              <a:avLst/>
              <a:gdLst/>
              <a:ahLst/>
              <a:cxnLst/>
              <a:rect r="r" b="b" t="t" l="l"/>
              <a:pathLst>
                <a:path h="9299702" w="6373622">
                  <a:moveTo>
                    <a:pt x="0" y="245110"/>
                  </a:moveTo>
                  <a:cubicBezTo>
                    <a:pt x="0" y="109728"/>
                    <a:pt x="109728" y="0"/>
                    <a:pt x="245110" y="0"/>
                  </a:cubicBezTo>
                  <a:lnTo>
                    <a:pt x="6128512" y="0"/>
                  </a:lnTo>
                  <a:cubicBezTo>
                    <a:pt x="6263894" y="0"/>
                    <a:pt x="6373622" y="109728"/>
                    <a:pt x="6373622" y="245110"/>
                  </a:cubicBezTo>
                  <a:lnTo>
                    <a:pt x="6373622" y="9054592"/>
                  </a:lnTo>
                  <a:cubicBezTo>
                    <a:pt x="6373622" y="9189974"/>
                    <a:pt x="6263894" y="9299702"/>
                    <a:pt x="6128512" y="9299702"/>
                  </a:cubicBezTo>
                  <a:lnTo>
                    <a:pt x="245110" y="9299702"/>
                  </a:lnTo>
                  <a:cubicBezTo>
                    <a:pt x="109728" y="9299702"/>
                    <a:pt x="0" y="9189974"/>
                    <a:pt x="0" y="9054592"/>
                  </a:cubicBezTo>
                  <a:close/>
                </a:path>
              </a:pathLst>
            </a:custGeom>
            <a:solidFill>
              <a:srgbClr val="141D31"/>
            </a:solidFill>
            <a:ln w="25400" cap="sq">
              <a:solidFill>
                <a:srgbClr val="222D45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2893040" y="3108960"/>
            <a:ext cx="3840480" cy="548640"/>
            <a:chOff x="0" y="0"/>
            <a:chExt cx="512064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120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2DD4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FEITO EM PAPEL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893040" y="4004310"/>
            <a:ext cx="3840480" cy="477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EEF2F8"/>
                </a:solidFill>
                <a:latin typeface="Arial"/>
                <a:ea typeface="Arial"/>
                <a:cs typeface="Arial"/>
                <a:sym typeface="Arial"/>
              </a:rPr>
              <a:t>Usado para planejar a disposição das informações e os principais elementos do painel.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4583" y="993143"/>
            <a:ext cx="171707" cy="939803"/>
            <a:chOff x="0" y="0"/>
            <a:chExt cx="228943" cy="1253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81" cy="1253109"/>
            </a:xfrm>
            <a:custGeom>
              <a:avLst/>
              <a:gdLst/>
              <a:ahLst/>
              <a:cxnLst/>
              <a:rect r="r" b="b" t="t" l="l"/>
              <a:pathLst>
                <a:path h="1253109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3B82F6"/>
            </a:solidFill>
            <a:ln w="25400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54480" y="914400"/>
            <a:ext cx="15636240" cy="1097280"/>
            <a:chOff x="0" y="0"/>
            <a:chExt cx="2084832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48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08483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EEF2F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Tecnologias utilizadas e IA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84583" y="2730503"/>
            <a:ext cx="5024123" cy="2768603"/>
            <a:chOff x="0" y="0"/>
            <a:chExt cx="6698831" cy="36914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988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6698869">
                  <a:moveTo>
                    <a:pt x="0" y="246126"/>
                  </a:moveTo>
                  <a:cubicBezTo>
                    <a:pt x="0" y="110236"/>
                    <a:pt x="110236" y="0"/>
                    <a:pt x="246126" y="0"/>
                  </a:cubicBezTo>
                  <a:lnTo>
                    <a:pt x="6452743" y="0"/>
                  </a:lnTo>
                  <a:cubicBezTo>
                    <a:pt x="6588633" y="0"/>
                    <a:pt x="6698869" y="110236"/>
                    <a:pt x="6698869" y="246126"/>
                  </a:cubicBezTo>
                  <a:lnTo>
                    <a:pt x="6698869" y="3445383"/>
                  </a:lnTo>
                  <a:cubicBezTo>
                    <a:pt x="6698869" y="3581273"/>
                    <a:pt x="6588633" y="3691509"/>
                    <a:pt x="6452743" y="3691509"/>
                  </a:cubicBezTo>
                  <a:lnTo>
                    <a:pt x="246126" y="3691509"/>
                  </a:lnTo>
                  <a:cubicBezTo>
                    <a:pt x="110236" y="3691509"/>
                    <a:pt x="0" y="3581273"/>
                    <a:pt x="0" y="3445383"/>
                  </a:cubicBezTo>
                  <a:close/>
                </a:path>
              </a:pathLst>
            </a:custGeom>
            <a:solidFill>
              <a:srgbClr val="141D31"/>
            </a:solidFill>
            <a:ln w="25400" cap="sq">
              <a:solidFill>
                <a:srgbClr val="222D45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54480" y="3200400"/>
            <a:ext cx="4084320" cy="731520"/>
            <a:chOff x="0" y="0"/>
            <a:chExt cx="544576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45760" cy="975360"/>
            </a:xfrm>
            <a:custGeom>
              <a:avLst/>
              <a:gdLst/>
              <a:ahLst/>
              <a:cxnLst/>
              <a:rect r="r" b="b" t="t" l="l"/>
              <a:pathLst>
                <a:path h="975360" w="5445760">
                  <a:moveTo>
                    <a:pt x="0" y="0"/>
                  </a:moveTo>
                  <a:lnTo>
                    <a:pt x="5445760" y="0"/>
                  </a:lnTo>
                  <a:lnTo>
                    <a:pt x="5445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54457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Python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54480" y="4095750"/>
            <a:ext cx="4084320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8A97B0"/>
                </a:solidFill>
                <a:latin typeface="Arial"/>
                <a:ea typeface="Arial"/>
                <a:cs typeface="Arial"/>
                <a:sym typeface="Arial"/>
              </a:rPr>
              <a:t>Lógica e regras de negócio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631943" y="2730503"/>
            <a:ext cx="5024123" cy="2768603"/>
            <a:chOff x="0" y="0"/>
            <a:chExt cx="6698831" cy="36914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988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6698869">
                  <a:moveTo>
                    <a:pt x="0" y="246126"/>
                  </a:moveTo>
                  <a:cubicBezTo>
                    <a:pt x="0" y="110236"/>
                    <a:pt x="110236" y="0"/>
                    <a:pt x="246126" y="0"/>
                  </a:cubicBezTo>
                  <a:lnTo>
                    <a:pt x="6452743" y="0"/>
                  </a:lnTo>
                  <a:cubicBezTo>
                    <a:pt x="6588633" y="0"/>
                    <a:pt x="6698869" y="110236"/>
                    <a:pt x="6698869" y="246126"/>
                  </a:cubicBezTo>
                  <a:lnTo>
                    <a:pt x="6698869" y="3445383"/>
                  </a:lnTo>
                  <a:cubicBezTo>
                    <a:pt x="6698869" y="3581273"/>
                    <a:pt x="6588633" y="3691509"/>
                    <a:pt x="6452743" y="3691509"/>
                  </a:cubicBezTo>
                  <a:lnTo>
                    <a:pt x="246126" y="3691509"/>
                  </a:lnTo>
                  <a:cubicBezTo>
                    <a:pt x="110236" y="3691509"/>
                    <a:pt x="0" y="3581273"/>
                    <a:pt x="0" y="3445383"/>
                  </a:cubicBezTo>
                  <a:close/>
                </a:path>
              </a:pathLst>
            </a:custGeom>
            <a:solidFill>
              <a:srgbClr val="141D31"/>
            </a:solidFill>
            <a:ln w="25400" cap="sq">
              <a:solidFill>
                <a:srgbClr val="222D45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101840" y="3200400"/>
            <a:ext cx="4084320" cy="731520"/>
            <a:chOff x="0" y="0"/>
            <a:chExt cx="544576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45760" cy="975360"/>
            </a:xfrm>
            <a:custGeom>
              <a:avLst/>
              <a:gdLst/>
              <a:ahLst/>
              <a:cxnLst/>
              <a:rect r="r" b="b" t="t" l="l"/>
              <a:pathLst>
                <a:path h="975360" w="5445760">
                  <a:moveTo>
                    <a:pt x="0" y="0"/>
                  </a:moveTo>
                  <a:lnTo>
                    <a:pt x="5445760" y="0"/>
                  </a:lnTo>
                  <a:lnTo>
                    <a:pt x="5445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54457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Streamlit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101840" y="4095750"/>
            <a:ext cx="4084320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8A97B0"/>
                </a:solidFill>
                <a:latin typeface="Arial"/>
                <a:ea typeface="Arial"/>
                <a:cs typeface="Arial"/>
                <a:sym typeface="Arial"/>
              </a:rPr>
              <a:t>Interface web, publicada online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79303" y="2730503"/>
            <a:ext cx="5024123" cy="2768603"/>
            <a:chOff x="0" y="0"/>
            <a:chExt cx="6698831" cy="36914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988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6698869">
                  <a:moveTo>
                    <a:pt x="0" y="246126"/>
                  </a:moveTo>
                  <a:cubicBezTo>
                    <a:pt x="0" y="110236"/>
                    <a:pt x="110236" y="0"/>
                    <a:pt x="246126" y="0"/>
                  </a:cubicBezTo>
                  <a:lnTo>
                    <a:pt x="6452743" y="0"/>
                  </a:lnTo>
                  <a:cubicBezTo>
                    <a:pt x="6588633" y="0"/>
                    <a:pt x="6698869" y="110236"/>
                    <a:pt x="6698869" y="246126"/>
                  </a:cubicBezTo>
                  <a:lnTo>
                    <a:pt x="6698869" y="3445383"/>
                  </a:lnTo>
                  <a:cubicBezTo>
                    <a:pt x="6698869" y="3581273"/>
                    <a:pt x="6588633" y="3691509"/>
                    <a:pt x="6452743" y="3691509"/>
                  </a:cubicBezTo>
                  <a:lnTo>
                    <a:pt x="246126" y="3691509"/>
                  </a:lnTo>
                  <a:cubicBezTo>
                    <a:pt x="110236" y="3691509"/>
                    <a:pt x="0" y="3581273"/>
                    <a:pt x="0" y="3445383"/>
                  </a:cubicBezTo>
                  <a:close/>
                </a:path>
              </a:pathLst>
            </a:custGeom>
            <a:solidFill>
              <a:srgbClr val="141D31"/>
            </a:solidFill>
            <a:ln w="25400" cap="sq">
              <a:solidFill>
                <a:srgbClr val="222D45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649200" y="3200400"/>
            <a:ext cx="4084320" cy="731520"/>
            <a:chOff x="0" y="0"/>
            <a:chExt cx="544576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45760" cy="975360"/>
            </a:xfrm>
            <a:custGeom>
              <a:avLst/>
              <a:gdLst/>
              <a:ahLst/>
              <a:cxnLst/>
              <a:rect r="r" b="b" t="t" l="l"/>
              <a:pathLst>
                <a:path h="975360" w="5445760">
                  <a:moveTo>
                    <a:pt x="0" y="0"/>
                  </a:moveTo>
                  <a:lnTo>
                    <a:pt x="5445760" y="0"/>
                  </a:lnTo>
                  <a:lnTo>
                    <a:pt x="5445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54457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SQLite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649200" y="4095750"/>
            <a:ext cx="4084320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8A97B0"/>
                </a:solidFill>
                <a:latin typeface="Arial"/>
                <a:ea typeface="Arial"/>
                <a:cs typeface="Arial"/>
                <a:sym typeface="Arial"/>
              </a:rPr>
              <a:t>Banco de dados em arquivo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84583" y="6022343"/>
            <a:ext cx="5024123" cy="2768603"/>
            <a:chOff x="0" y="0"/>
            <a:chExt cx="6698831" cy="36914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988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6698869">
                  <a:moveTo>
                    <a:pt x="0" y="246126"/>
                  </a:moveTo>
                  <a:cubicBezTo>
                    <a:pt x="0" y="110236"/>
                    <a:pt x="110236" y="0"/>
                    <a:pt x="246126" y="0"/>
                  </a:cubicBezTo>
                  <a:lnTo>
                    <a:pt x="6452743" y="0"/>
                  </a:lnTo>
                  <a:cubicBezTo>
                    <a:pt x="6588633" y="0"/>
                    <a:pt x="6698869" y="110236"/>
                    <a:pt x="6698869" y="246126"/>
                  </a:cubicBezTo>
                  <a:lnTo>
                    <a:pt x="6698869" y="3445383"/>
                  </a:lnTo>
                  <a:cubicBezTo>
                    <a:pt x="6698869" y="3581273"/>
                    <a:pt x="6588633" y="3691509"/>
                    <a:pt x="6452743" y="3691509"/>
                  </a:cubicBezTo>
                  <a:lnTo>
                    <a:pt x="246126" y="3691509"/>
                  </a:lnTo>
                  <a:cubicBezTo>
                    <a:pt x="110236" y="3691509"/>
                    <a:pt x="0" y="3581273"/>
                    <a:pt x="0" y="3445383"/>
                  </a:cubicBezTo>
                  <a:close/>
                </a:path>
              </a:pathLst>
            </a:custGeom>
            <a:solidFill>
              <a:srgbClr val="141D31"/>
            </a:solidFill>
            <a:ln w="25400" cap="sq">
              <a:solidFill>
                <a:srgbClr val="222D45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554480" y="6492240"/>
            <a:ext cx="4084320" cy="731520"/>
            <a:chOff x="0" y="0"/>
            <a:chExt cx="5445760" cy="975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45760" cy="975360"/>
            </a:xfrm>
            <a:custGeom>
              <a:avLst/>
              <a:gdLst/>
              <a:ahLst/>
              <a:cxnLst/>
              <a:rect r="r" b="b" t="t" l="l"/>
              <a:pathLst>
                <a:path h="975360" w="5445760">
                  <a:moveTo>
                    <a:pt x="0" y="0"/>
                  </a:moveTo>
                  <a:lnTo>
                    <a:pt x="5445760" y="0"/>
                  </a:lnTo>
                  <a:lnTo>
                    <a:pt x="5445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54457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CSS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554480" y="7387590"/>
            <a:ext cx="4084320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8A97B0"/>
                </a:solidFill>
                <a:latin typeface="Arial"/>
                <a:ea typeface="Arial"/>
                <a:cs typeface="Arial"/>
                <a:sym typeface="Arial"/>
              </a:rPr>
              <a:t>Visual da interface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631943" y="6022343"/>
            <a:ext cx="5024123" cy="2768603"/>
            <a:chOff x="0" y="0"/>
            <a:chExt cx="6698831" cy="36914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6988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6698869">
                  <a:moveTo>
                    <a:pt x="0" y="246126"/>
                  </a:moveTo>
                  <a:cubicBezTo>
                    <a:pt x="0" y="110236"/>
                    <a:pt x="110236" y="0"/>
                    <a:pt x="246126" y="0"/>
                  </a:cubicBezTo>
                  <a:lnTo>
                    <a:pt x="6452743" y="0"/>
                  </a:lnTo>
                  <a:cubicBezTo>
                    <a:pt x="6588633" y="0"/>
                    <a:pt x="6698869" y="110236"/>
                    <a:pt x="6698869" y="246126"/>
                  </a:cubicBezTo>
                  <a:lnTo>
                    <a:pt x="6698869" y="3445383"/>
                  </a:lnTo>
                  <a:cubicBezTo>
                    <a:pt x="6698869" y="3581273"/>
                    <a:pt x="6588633" y="3691509"/>
                    <a:pt x="6452743" y="3691509"/>
                  </a:cubicBezTo>
                  <a:lnTo>
                    <a:pt x="246126" y="3691509"/>
                  </a:lnTo>
                  <a:cubicBezTo>
                    <a:pt x="110236" y="3691509"/>
                    <a:pt x="0" y="3581273"/>
                    <a:pt x="0" y="3445383"/>
                  </a:cubicBezTo>
                  <a:close/>
                </a:path>
              </a:pathLst>
            </a:custGeom>
            <a:solidFill>
              <a:srgbClr val="141D31"/>
            </a:solidFill>
            <a:ln w="25400" cap="sq">
              <a:solidFill>
                <a:srgbClr val="222D4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101840" y="6492240"/>
            <a:ext cx="4084320" cy="731520"/>
            <a:chOff x="0" y="0"/>
            <a:chExt cx="544576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45760" cy="975360"/>
            </a:xfrm>
            <a:custGeom>
              <a:avLst/>
              <a:gdLst/>
              <a:ahLst/>
              <a:cxnLst/>
              <a:rect r="r" b="b" t="t" l="l"/>
              <a:pathLst>
                <a:path h="975360" w="5445760">
                  <a:moveTo>
                    <a:pt x="0" y="0"/>
                  </a:moveTo>
                  <a:lnTo>
                    <a:pt x="5445760" y="0"/>
                  </a:lnTo>
                  <a:lnTo>
                    <a:pt x="5445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54457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 e GitHub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7101840" y="7387590"/>
            <a:ext cx="4084320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8A97B0"/>
                </a:solidFill>
                <a:latin typeface="Arial"/>
                <a:ea typeface="Arial"/>
                <a:cs typeface="Arial"/>
                <a:sym typeface="Arial"/>
              </a:rPr>
              <a:t>Versionamento e hospedagem do código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179303" y="6022343"/>
            <a:ext cx="5024123" cy="2768603"/>
            <a:chOff x="0" y="0"/>
            <a:chExt cx="6698831" cy="36914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698869" cy="3691509"/>
            </a:xfrm>
            <a:custGeom>
              <a:avLst/>
              <a:gdLst/>
              <a:ahLst/>
              <a:cxnLst/>
              <a:rect r="r" b="b" t="t" l="l"/>
              <a:pathLst>
                <a:path h="3691509" w="6698869">
                  <a:moveTo>
                    <a:pt x="0" y="246126"/>
                  </a:moveTo>
                  <a:cubicBezTo>
                    <a:pt x="0" y="110236"/>
                    <a:pt x="110236" y="0"/>
                    <a:pt x="246126" y="0"/>
                  </a:cubicBezTo>
                  <a:lnTo>
                    <a:pt x="6452743" y="0"/>
                  </a:lnTo>
                  <a:cubicBezTo>
                    <a:pt x="6588633" y="0"/>
                    <a:pt x="6698869" y="110236"/>
                    <a:pt x="6698869" y="246126"/>
                  </a:cubicBezTo>
                  <a:lnTo>
                    <a:pt x="6698869" y="3445383"/>
                  </a:lnTo>
                  <a:cubicBezTo>
                    <a:pt x="6698869" y="3581273"/>
                    <a:pt x="6588633" y="3691509"/>
                    <a:pt x="6452743" y="3691509"/>
                  </a:cubicBezTo>
                  <a:lnTo>
                    <a:pt x="246126" y="3691509"/>
                  </a:lnTo>
                  <a:cubicBezTo>
                    <a:pt x="110236" y="3691509"/>
                    <a:pt x="0" y="3581273"/>
                    <a:pt x="0" y="3445383"/>
                  </a:cubicBezTo>
                  <a:close/>
                </a:path>
              </a:pathLst>
            </a:custGeom>
            <a:solidFill>
              <a:srgbClr val="141D31"/>
            </a:solidFill>
            <a:ln w="25400" cap="sq">
              <a:solidFill>
                <a:srgbClr val="222D4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649200" y="6492240"/>
            <a:ext cx="4084320" cy="731520"/>
            <a:chOff x="0" y="0"/>
            <a:chExt cx="5445760" cy="975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45760" cy="975360"/>
            </a:xfrm>
            <a:custGeom>
              <a:avLst/>
              <a:gdLst/>
              <a:ahLst/>
              <a:cxnLst/>
              <a:rect r="r" b="b" t="t" l="l"/>
              <a:pathLst>
                <a:path h="975360" w="5445760">
                  <a:moveTo>
                    <a:pt x="0" y="0"/>
                  </a:moveTo>
                  <a:lnTo>
                    <a:pt x="5445760" y="0"/>
                  </a:lnTo>
                  <a:lnTo>
                    <a:pt x="5445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91" r="0" b="-5879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54457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2DD4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ChatGPT e Claude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649200" y="7387590"/>
            <a:ext cx="4084320" cy="111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8A97B0"/>
                </a:solidFill>
                <a:latin typeface="Arial"/>
                <a:ea typeface="Arial"/>
                <a:cs typeface="Arial"/>
                <a:sym typeface="Arial"/>
              </a:rPr>
              <a:t>Entrevista simulada e apoio ao desenvolvimento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4583" y="993143"/>
            <a:ext cx="171707" cy="939803"/>
            <a:chOff x="0" y="0"/>
            <a:chExt cx="228943" cy="1253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81" cy="1253109"/>
            </a:xfrm>
            <a:custGeom>
              <a:avLst/>
              <a:gdLst/>
              <a:ahLst/>
              <a:cxnLst/>
              <a:rect r="r" b="b" t="t" l="l"/>
              <a:pathLst>
                <a:path h="1253109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3B82F6"/>
            </a:solidFill>
            <a:ln w="25400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54480" y="914400"/>
            <a:ext cx="15636240" cy="1097280"/>
            <a:chOff x="0" y="0"/>
            <a:chExt cx="2084832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48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08483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EEF2F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 sistema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84583" y="2639063"/>
            <a:ext cx="16118843" cy="1031243"/>
            <a:chOff x="0" y="0"/>
            <a:chExt cx="21491791" cy="13749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91956" cy="1375156"/>
            </a:xfrm>
            <a:custGeom>
              <a:avLst/>
              <a:gdLst/>
              <a:ahLst/>
              <a:cxnLst/>
              <a:rect r="r" b="b" t="t" l="l"/>
              <a:pathLst>
                <a:path h="1375156" w="21491956">
                  <a:moveTo>
                    <a:pt x="0" y="250063"/>
                  </a:moveTo>
                  <a:cubicBezTo>
                    <a:pt x="0" y="111887"/>
                    <a:pt x="111887" y="0"/>
                    <a:pt x="250063" y="0"/>
                  </a:cubicBezTo>
                  <a:lnTo>
                    <a:pt x="21241894" y="0"/>
                  </a:lnTo>
                  <a:cubicBezTo>
                    <a:pt x="21379943" y="0"/>
                    <a:pt x="21491956" y="111887"/>
                    <a:pt x="21491956" y="250063"/>
                  </a:cubicBezTo>
                  <a:lnTo>
                    <a:pt x="21491956" y="1125093"/>
                  </a:lnTo>
                  <a:cubicBezTo>
                    <a:pt x="21491956" y="1263142"/>
                    <a:pt x="21380069" y="1375156"/>
                    <a:pt x="21241894" y="1375156"/>
                  </a:cubicBezTo>
                  <a:lnTo>
                    <a:pt x="250063" y="1375156"/>
                  </a:lnTo>
                  <a:cubicBezTo>
                    <a:pt x="111887" y="1375029"/>
                    <a:pt x="0" y="1263015"/>
                    <a:pt x="0" y="1124966"/>
                  </a:cubicBezTo>
                  <a:close/>
                </a:path>
              </a:pathLst>
            </a:custGeom>
            <a:solidFill>
              <a:srgbClr val="141D31"/>
            </a:solidFill>
            <a:ln w="25400" cap="sq">
              <a:solidFill>
                <a:srgbClr val="222D45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45920" y="2651760"/>
            <a:ext cx="4754880" cy="1005840"/>
            <a:chOff x="0" y="0"/>
            <a:chExt cx="6339840" cy="134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39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339840" cy="1369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Login e cadastro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83680" y="2651760"/>
            <a:ext cx="10058400" cy="1005840"/>
            <a:chOff x="0" y="0"/>
            <a:chExt cx="13411200" cy="1341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11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34112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EEF2F8"/>
                  </a:solidFill>
                  <a:latin typeface="Arial"/>
                  <a:ea typeface="Arial"/>
                  <a:cs typeface="Arial"/>
                  <a:sym typeface="Arial"/>
                </a:rPr>
                <a:t>Cada usuário com seu próprio estoque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84583" y="3864359"/>
            <a:ext cx="16118843" cy="1031243"/>
            <a:chOff x="0" y="0"/>
            <a:chExt cx="21491791" cy="13749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491956" cy="1375156"/>
            </a:xfrm>
            <a:custGeom>
              <a:avLst/>
              <a:gdLst/>
              <a:ahLst/>
              <a:cxnLst/>
              <a:rect r="r" b="b" t="t" l="l"/>
              <a:pathLst>
                <a:path h="1375156" w="21491956">
                  <a:moveTo>
                    <a:pt x="0" y="250063"/>
                  </a:moveTo>
                  <a:cubicBezTo>
                    <a:pt x="0" y="111887"/>
                    <a:pt x="111887" y="0"/>
                    <a:pt x="250063" y="0"/>
                  </a:cubicBezTo>
                  <a:lnTo>
                    <a:pt x="21241894" y="0"/>
                  </a:lnTo>
                  <a:cubicBezTo>
                    <a:pt x="21379943" y="0"/>
                    <a:pt x="21491956" y="111887"/>
                    <a:pt x="21491956" y="250063"/>
                  </a:cubicBezTo>
                  <a:lnTo>
                    <a:pt x="21491956" y="1125093"/>
                  </a:lnTo>
                  <a:cubicBezTo>
                    <a:pt x="21491956" y="1263142"/>
                    <a:pt x="21380069" y="1375156"/>
                    <a:pt x="21241894" y="1375156"/>
                  </a:cubicBezTo>
                  <a:lnTo>
                    <a:pt x="250063" y="1375156"/>
                  </a:lnTo>
                  <a:cubicBezTo>
                    <a:pt x="111887" y="1375029"/>
                    <a:pt x="0" y="1263015"/>
                    <a:pt x="0" y="1124966"/>
                  </a:cubicBezTo>
                  <a:close/>
                </a:path>
              </a:pathLst>
            </a:custGeom>
            <a:solidFill>
              <a:srgbClr val="141D31"/>
            </a:solidFill>
            <a:ln w="25400" cap="sq">
              <a:solidFill>
                <a:srgbClr val="222D45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645920" y="3877056"/>
            <a:ext cx="4754880" cy="1005840"/>
            <a:chOff x="0" y="0"/>
            <a:chExt cx="6339840" cy="1341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39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6339840" cy="1369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Produtos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83680" y="3877056"/>
            <a:ext cx="10058400" cy="1005840"/>
            <a:chOff x="0" y="0"/>
            <a:chExt cx="1341120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1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34112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EEF2F8"/>
                  </a:solidFill>
                  <a:latin typeface="Arial"/>
                  <a:ea typeface="Arial"/>
                  <a:cs typeface="Arial"/>
                  <a:sym typeface="Arial"/>
                </a:rPr>
                <a:t>Cadastrar, editar, excluir e pesquisar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84583" y="5089655"/>
            <a:ext cx="16118843" cy="1031243"/>
            <a:chOff x="0" y="0"/>
            <a:chExt cx="21491791" cy="13749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491956" cy="1375156"/>
            </a:xfrm>
            <a:custGeom>
              <a:avLst/>
              <a:gdLst/>
              <a:ahLst/>
              <a:cxnLst/>
              <a:rect r="r" b="b" t="t" l="l"/>
              <a:pathLst>
                <a:path h="1375156" w="21491956">
                  <a:moveTo>
                    <a:pt x="0" y="250063"/>
                  </a:moveTo>
                  <a:cubicBezTo>
                    <a:pt x="0" y="111887"/>
                    <a:pt x="111887" y="0"/>
                    <a:pt x="250063" y="0"/>
                  </a:cubicBezTo>
                  <a:lnTo>
                    <a:pt x="21241894" y="0"/>
                  </a:lnTo>
                  <a:cubicBezTo>
                    <a:pt x="21379943" y="0"/>
                    <a:pt x="21491956" y="111887"/>
                    <a:pt x="21491956" y="250063"/>
                  </a:cubicBezTo>
                  <a:lnTo>
                    <a:pt x="21491956" y="1125093"/>
                  </a:lnTo>
                  <a:cubicBezTo>
                    <a:pt x="21491956" y="1263142"/>
                    <a:pt x="21380069" y="1375156"/>
                    <a:pt x="21241894" y="1375156"/>
                  </a:cubicBezTo>
                  <a:lnTo>
                    <a:pt x="250063" y="1375156"/>
                  </a:lnTo>
                  <a:cubicBezTo>
                    <a:pt x="111887" y="1375029"/>
                    <a:pt x="0" y="1263015"/>
                    <a:pt x="0" y="1124966"/>
                  </a:cubicBezTo>
                  <a:close/>
                </a:path>
              </a:pathLst>
            </a:custGeom>
            <a:solidFill>
              <a:srgbClr val="141D31"/>
            </a:solidFill>
            <a:ln w="25400" cap="sq">
              <a:solidFill>
                <a:srgbClr val="222D45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645920" y="5102352"/>
            <a:ext cx="4754880" cy="1005840"/>
            <a:chOff x="0" y="0"/>
            <a:chExt cx="6339840" cy="1341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39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6339840" cy="1369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Movimentações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583680" y="5102352"/>
            <a:ext cx="10058400" cy="1005840"/>
            <a:chOff x="0" y="0"/>
            <a:chExt cx="13411200" cy="13411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411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34112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EEF2F8"/>
                  </a:solidFill>
                  <a:latin typeface="Arial"/>
                  <a:ea typeface="Arial"/>
                  <a:cs typeface="Arial"/>
                  <a:sym typeface="Arial"/>
                </a:rPr>
                <a:t>Entradas e saídas, com histórico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84583" y="6314951"/>
            <a:ext cx="16118843" cy="1031243"/>
            <a:chOff x="0" y="0"/>
            <a:chExt cx="21491791" cy="137499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491956" cy="1375156"/>
            </a:xfrm>
            <a:custGeom>
              <a:avLst/>
              <a:gdLst/>
              <a:ahLst/>
              <a:cxnLst/>
              <a:rect r="r" b="b" t="t" l="l"/>
              <a:pathLst>
                <a:path h="1375156" w="21491956">
                  <a:moveTo>
                    <a:pt x="0" y="250063"/>
                  </a:moveTo>
                  <a:cubicBezTo>
                    <a:pt x="0" y="111887"/>
                    <a:pt x="111887" y="0"/>
                    <a:pt x="250063" y="0"/>
                  </a:cubicBezTo>
                  <a:lnTo>
                    <a:pt x="21241894" y="0"/>
                  </a:lnTo>
                  <a:cubicBezTo>
                    <a:pt x="21379943" y="0"/>
                    <a:pt x="21491956" y="111887"/>
                    <a:pt x="21491956" y="250063"/>
                  </a:cubicBezTo>
                  <a:lnTo>
                    <a:pt x="21491956" y="1125093"/>
                  </a:lnTo>
                  <a:cubicBezTo>
                    <a:pt x="21491956" y="1263142"/>
                    <a:pt x="21380069" y="1375156"/>
                    <a:pt x="21241894" y="1375156"/>
                  </a:cubicBezTo>
                  <a:lnTo>
                    <a:pt x="250063" y="1375156"/>
                  </a:lnTo>
                  <a:cubicBezTo>
                    <a:pt x="111887" y="1375029"/>
                    <a:pt x="0" y="1263015"/>
                    <a:pt x="0" y="1124966"/>
                  </a:cubicBezTo>
                  <a:close/>
                </a:path>
              </a:pathLst>
            </a:custGeom>
            <a:solidFill>
              <a:srgbClr val="141D31"/>
            </a:solidFill>
            <a:ln w="25400" cap="sq">
              <a:solidFill>
                <a:srgbClr val="222D4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645920" y="6327648"/>
            <a:ext cx="4754880" cy="1005840"/>
            <a:chOff x="0" y="0"/>
            <a:chExt cx="6339840" cy="13411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339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6339840" cy="1369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Alertas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583680" y="6327648"/>
            <a:ext cx="10058400" cy="1005840"/>
            <a:chOff x="0" y="0"/>
            <a:chExt cx="13411200" cy="13411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411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34112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EEF2F8"/>
                  </a:solidFill>
                  <a:latin typeface="Arial"/>
                  <a:ea typeface="Arial"/>
                  <a:cs typeface="Arial"/>
                  <a:sym typeface="Arial"/>
                </a:rPr>
                <a:t>Estoque baixo e produtos perto do vencimento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84583" y="7540247"/>
            <a:ext cx="16118843" cy="1031243"/>
            <a:chOff x="0" y="0"/>
            <a:chExt cx="21491791" cy="13749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491956" cy="1375156"/>
            </a:xfrm>
            <a:custGeom>
              <a:avLst/>
              <a:gdLst/>
              <a:ahLst/>
              <a:cxnLst/>
              <a:rect r="r" b="b" t="t" l="l"/>
              <a:pathLst>
                <a:path h="1375156" w="21491956">
                  <a:moveTo>
                    <a:pt x="0" y="250063"/>
                  </a:moveTo>
                  <a:cubicBezTo>
                    <a:pt x="0" y="111887"/>
                    <a:pt x="111887" y="0"/>
                    <a:pt x="250063" y="0"/>
                  </a:cubicBezTo>
                  <a:lnTo>
                    <a:pt x="21241894" y="0"/>
                  </a:lnTo>
                  <a:cubicBezTo>
                    <a:pt x="21379943" y="0"/>
                    <a:pt x="21491956" y="111887"/>
                    <a:pt x="21491956" y="250063"/>
                  </a:cubicBezTo>
                  <a:lnTo>
                    <a:pt x="21491956" y="1125093"/>
                  </a:lnTo>
                  <a:cubicBezTo>
                    <a:pt x="21491956" y="1263142"/>
                    <a:pt x="21380069" y="1375156"/>
                    <a:pt x="21241894" y="1375156"/>
                  </a:cubicBezTo>
                  <a:lnTo>
                    <a:pt x="250063" y="1375156"/>
                  </a:lnTo>
                  <a:cubicBezTo>
                    <a:pt x="111887" y="1375029"/>
                    <a:pt x="0" y="1263015"/>
                    <a:pt x="0" y="1124966"/>
                  </a:cubicBezTo>
                  <a:close/>
                </a:path>
              </a:pathLst>
            </a:custGeom>
            <a:solidFill>
              <a:srgbClr val="141D31"/>
            </a:solidFill>
            <a:ln w="25400" cap="sq">
              <a:solidFill>
                <a:srgbClr val="222D45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645920" y="7552944"/>
            <a:ext cx="4754880" cy="1005840"/>
            <a:chOff x="0" y="0"/>
            <a:chExt cx="6339840" cy="13411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39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6339840" cy="1369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3B82F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Resumo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583680" y="7552944"/>
            <a:ext cx="10058400" cy="1005840"/>
            <a:chOff x="0" y="0"/>
            <a:chExt cx="13411200" cy="1341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411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34112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EEF2F8"/>
                  </a:solidFill>
                  <a:latin typeface="Arial"/>
                  <a:ea typeface="Arial"/>
                  <a:cs typeface="Arial"/>
                  <a:sym typeface="Arial"/>
                </a:rPr>
                <a:t>Total de produtos, unidades e valor vendido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4583" y="993143"/>
            <a:ext cx="171707" cy="939803"/>
            <a:chOff x="0" y="0"/>
            <a:chExt cx="228943" cy="1253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81" cy="1253109"/>
            </a:xfrm>
            <a:custGeom>
              <a:avLst/>
              <a:gdLst/>
              <a:ahLst/>
              <a:cxnLst/>
              <a:rect r="r" b="b" t="t" l="l"/>
              <a:pathLst>
                <a:path h="1253109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3B82F6"/>
            </a:solidFill>
            <a:ln w="25400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54480" y="914400"/>
            <a:ext cx="15636240" cy="1097280"/>
            <a:chOff x="0" y="0"/>
            <a:chExt cx="2084832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48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08483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EEF2F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Demonstração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8230" y="2358390"/>
            <a:ext cx="16131540" cy="7353300"/>
            <a:chOff x="0" y="0"/>
            <a:chExt cx="21508720" cy="980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08720" cy="9804400"/>
            </a:xfrm>
            <a:custGeom>
              <a:avLst/>
              <a:gdLst/>
              <a:ahLst/>
              <a:cxnLst/>
              <a:rect r="r" b="b" t="t" l="l"/>
              <a:pathLst>
                <a:path h="9804400" w="21508720">
                  <a:moveTo>
                    <a:pt x="0" y="294132"/>
                  </a:moveTo>
                  <a:cubicBezTo>
                    <a:pt x="0" y="131699"/>
                    <a:pt x="131699" y="0"/>
                    <a:pt x="294132" y="0"/>
                  </a:cubicBezTo>
                  <a:lnTo>
                    <a:pt x="21214587" y="0"/>
                  </a:lnTo>
                  <a:cubicBezTo>
                    <a:pt x="21377021" y="0"/>
                    <a:pt x="21508720" y="131699"/>
                    <a:pt x="21508720" y="294132"/>
                  </a:cubicBezTo>
                  <a:lnTo>
                    <a:pt x="21508720" y="9510268"/>
                  </a:lnTo>
                  <a:cubicBezTo>
                    <a:pt x="21508720" y="9672701"/>
                    <a:pt x="21377021" y="9804400"/>
                    <a:pt x="21214587" y="9804400"/>
                  </a:cubicBezTo>
                  <a:lnTo>
                    <a:pt x="294132" y="9804400"/>
                  </a:lnTo>
                  <a:cubicBezTo>
                    <a:pt x="131699" y="9804400"/>
                    <a:pt x="0" y="9672701"/>
                    <a:pt x="0" y="9510268"/>
                  </a:cubicBezTo>
                  <a:close/>
                </a:path>
              </a:pathLst>
            </a:custGeom>
            <a:blipFill>
              <a:blip r:embed="rId4"/>
              <a:stretch>
                <a:fillRect l="0" t="-3033" r="0" b="-3033"/>
              </a:stretch>
            </a:blipFill>
            <a:ln w="38100" cap="sq">
              <a:solidFill>
                <a:srgbClr val="3B82F6"/>
              </a:solidFill>
              <a:prstDash val="dash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4583" y="993143"/>
            <a:ext cx="171707" cy="939803"/>
            <a:chOff x="0" y="0"/>
            <a:chExt cx="228943" cy="1253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981" cy="1253109"/>
            </a:xfrm>
            <a:custGeom>
              <a:avLst/>
              <a:gdLst/>
              <a:ahLst/>
              <a:cxnLst/>
              <a:rect r="r" b="b" t="t" l="l"/>
              <a:pathLst>
                <a:path h="1253109" w="228981">
                  <a:moveTo>
                    <a:pt x="0" y="0"/>
                  </a:moveTo>
                  <a:lnTo>
                    <a:pt x="228981" y="0"/>
                  </a:lnTo>
                  <a:lnTo>
                    <a:pt x="228981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3B82F6"/>
            </a:solidFill>
            <a:ln w="25400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54480" y="914400"/>
            <a:ext cx="15636240" cy="1097280"/>
            <a:chOff x="0" y="0"/>
            <a:chExt cx="2084832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48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08483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EEF2F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Conclusão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84583" y="2730503"/>
            <a:ext cx="5024123" cy="5511803"/>
            <a:chOff x="0" y="0"/>
            <a:chExt cx="6698831" cy="7349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98869" cy="7349109"/>
            </a:xfrm>
            <a:custGeom>
              <a:avLst/>
              <a:gdLst/>
              <a:ahLst/>
              <a:cxnLst/>
              <a:rect r="r" b="b" t="t" l="l"/>
              <a:pathLst>
                <a:path h="7349109" w="6698869">
                  <a:moveTo>
                    <a:pt x="0" y="245110"/>
                  </a:moveTo>
                  <a:cubicBezTo>
                    <a:pt x="0" y="109728"/>
                    <a:pt x="109728" y="0"/>
                    <a:pt x="245110" y="0"/>
                  </a:cubicBezTo>
                  <a:lnTo>
                    <a:pt x="6453759" y="0"/>
                  </a:lnTo>
                  <a:cubicBezTo>
                    <a:pt x="6589141" y="0"/>
                    <a:pt x="6698869" y="109728"/>
                    <a:pt x="6698869" y="245110"/>
                  </a:cubicBezTo>
                  <a:lnTo>
                    <a:pt x="6698869" y="7103999"/>
                  </a:lnTo>
                  <a:cubicBezTo>
                    <a:pt x="6698869" y="7239381"/>
                    <a:pt x="6589141" y="7349109"/>
                    <a:pt x="6453759" y="7349109"/>
                  </a:cubicBezTo>
                  <a:lnTo>
                    <a:pt x="245110" y="7349109"/>
                  </a:lnTo>
                  <a:cubicBezTo>
                    <a:pt x="109728" y="7349109"/>
                    <a:pt x="0" y="7239381"/>
                    <a:pt x="0" y="7103999"/>
                  </a:cubicBezTo>
                  <a:close/>
                </a:path>
              </a:pathLst>
            </a:custGeom>
            <a:solidFill>
              <a:srgbClr val="141D31"/>
            </a:solidFill>
            <a:ln w="25400" cap="sq">
              <a:solidFill>
                <a:srgbClr val="222D45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54480" y="3291840"/>
            <a:ext cx="4084320" cy="548640"/>
            <a:chOff x="0" y="0"/>
            <a:chExt cx="544576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45760" cy="731520"/>
            </a:xfrm>
            <a:custGeom>
              <a:avLst/>
              <a:gdLst/>
              <a:ahLst/>
              <a:cxnLst/>
              <a:rect r="r" b="b" t="t" l="l"/>
              <a:pathLst>
                <a:path h="731520" w="5445760">
                  <a:moveTo>
                    <a:pt x="0" y="0"/>
                  </a:moveTo>
                  <a:lnTo>
                    <a:pt x="5445760" y="0"/>
                  </a:lnTo>
                  <a:lnTo>
                    <a:pt x="5445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055" r="0" b="-9505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4457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2DD4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 QUE FIZEMOS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54480" y="4187190"/>
            <a:ext cx="4084320" cy="2945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EEF2F8"/>
                </a:solidFill>
                <a:latin typeface="Arial"/>
                <a:ea typeface="Arial"/>
                <a:cs typeface="Arial"/>
                <a:sym typeface="Arial"/>
              </a:rPr>
              <a:t>Sistema funcionando e publicado online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631943" y="2730503"/>
            <a:ext cx="5024123" cy="5511803"/>
            <a:chOff x="0" y="0"/>
            <a:chExt cx="6698831" cy="73490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98869" cy="7349109"/>
            </a:xfrm>
            <a:custGeom>
              <a:avLst/>
              <a:gdLst/>
              <a:ahLst/>
              <a:cxnLst/>
              <a:rect r="r" b="b" t="t" l="l"/>
              <a:pathLst>
                <a:path h="7349109" w="6698869">
                  <a:moveTo>
                    <a:pt x="0" y="245110"/>
                  </a:moveTo>
                  <a:cubicBezTo>
                    <a:pt x="0" y="109728"/>
                    <a:pt x="109728" y="0"/>
                    <a:pt x="245110" y="0"/>
                  </a:cubicBezTo>
                  <a:lnTo>
                    <a:pt x="6453759" y="0"/>
                  </a:lnTo>
                  <a:cubicBezTo>
                    <a:pt x="6589141" y="0"/>
                    <a:pt x="6698869" y="109728"/>
                    <a:pt x="6698869" y="245110"/>
                  </a:cubicBezTo>
                  <a:lnTo>
                    <a:pt x="6698869" y="7103999"/>
                  </a:lnTo>
                  <a:cubicBezTo>
                    <a:pt x="6698869" y="7239381"/>
                    <a:pt x="6589141" y="7349109"/>
                    <a:pt x="6453759" y="7349109"/>
                  </a:cubicBezTo>
                  <a:lnTo>
                    <a:pt x="245110" y="7349109"/>
                  </a:lnTo>
                  <a:cubicBezTo>
                    <a:pt x="109728" y="7349109"/>
                    <a:pt x="0" y="7239381"/>
                    <a:pt x="0" y="7103999"/>
                  </a:cubicBezTo>
                  <a:close/>
                </a:path>
              </a:pathLst>
            </a:custGeom>
            <a:solidFill>
              <a:srgbClr val="141D31"/>
            </a:solidFill>
            <a:ln w="25400" cap="sq">
              <a:solidFill>
                <a:srgbClr val="222D45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101840" y="3291840"/>
            <a:ext cx="4084320" cy="548640"/>
            <a:chOff x="0" y="0"/>
            <a:chExt cx="544576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45760" cy="731520"/>
            </a:xfrm>
            <a:custGeom>
              <a:avLst/>
              <a:gdLst/>
              <a:ahLst/>
              <a:cxnLst/>
              <a:rect r="r" b="b" t="t" l="l"/>
              <a:pathLst>
                <a:path h="731520" w="5445760">
                  <a:moveTo>
                    <a:pt x="0" y="0"/>
                  </a:moveTo>
                  <a:lnTo>
                    <a:pt x="5445760" y="0"/>
                  </a:lnTo>
                  <a:lnTo>
                    <a:pt x="5445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055" r="0" b="-9505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54457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2DD4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 QUE APRENDEMOS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101840" y="4187190"/>
            <a:ext cx="4084320" cy="2945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EEF2F8"/>
                </a:solidFill>
                <a:latin typeface="Arial"/>
                <a:ea typeface="Arial"/>
                <a:cs typeface="Arial"/>
                <a:sym typeface="Arial"/>
              </a:rPr>
              <a:t>Python, banco de dados e interface web na prática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79303" y="2730503"/>
            <a:ext cx="5024123" cy="5511803"/>
            <a:chOff x="0" y="0"/>
            <a:chExt cx="6698831" cy="73490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98869" cy="7349109"/>
            </a:xfrm>
            <a:custGeom>
              <a:avLst/>
              <a:gdLst/>
              <a:ahLst/>
              <a:cxnLst/>
              <a:rect r="r" b="b" t="t" l="l"/>
              <a:pathLst>
                <a:path h="7349109" w="6698869">
                  <a:moveTo>
                    <a:pt x="0" y="245110"/>
                  </a:moveTo>
                  <a:cubicBezTo>
                    <a:pt x="0" y="109728"/>
                    <a:pt x="109728" y="0"/>
                    <a:pt x="245110" y="0"/>
                  </a:cubicBezTo>
                  <a:lnTo>
                    <a:pt x="6453759" y="0"/>
                  </a:lnTo>
                  <a:cubicBezTo>
                    <a:pt x="6589141" y="0"/>
                    <a:pt x="6698869" y="109728"/>
                    <a:pt x="6698869" y="245110"/>
                  </a:cubicBezTo>
                  <a:lnTo>
                    <a:pt x="6698869" y="7103999"/>
                  </a:lnTo>
                  <a:cubicBezTo>
                    <a:pt x="6698869" y="7239381"/>
                    <a:pt x="6589141" y="7349109"/>
                    <a:pt x="6453759" y="7349109"/>
                  </a:cubicBezTo>
                  <a:lnTo>
                    <a:pt x="245110" y="7349109"/>
                  </a:lnTo>
                  <a:cubicBezTo>
                    <a:pt x="109728" y="7349109"/>
                    <a:pt x="0" y="7239381"/>
                    <a:pt x="0" y="7103999"/>
                  </a:cubicBezTo>
                  <a:close/>
                </a:path>
              </a:pathLst>
            </a:custGeom>
            <a:solidFill>
              <a:srgbClr val="141D31"/>
            </a:solidFill>
            <a:ln w="25400" cap="sq">
              <a:solidFill>
                <a:srgbClr val="222D45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649200" y="3291840"/>
            <a:ext cx="4084320" cy="548640"/>
            <a:chOff x="0" y="0"/>
            <a:chExt cx="544576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45760" cy="731520"/>
            </a:xfrm>
            <a:custGeom>
              <a:avLst/>
              <a:gdLst/>
              <a:ahLst/>
              <a:cxnLst/>
              <a:rect r="r" b="b" t="t" l="l"/>
              <a:pathLst>
                <a:path h="731520" w="5445760">
                  <a:moveTo>
                    <a:pt x="0" y="0"/>
                  </a:moveTo>
                  <a:lnTo>
                    <a:pt x="5445760" y="0"/>
                  </a:lnTo>
                  <a:lnTo>
                    <a:pt x="5445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055" r="0" b="-9505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4457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spc="399">
                  <a:solidFill>
                    <a:srgbClr val="2DD4B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PRÓXIMOS PASSOS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649200" y="4187190"/>
            <a:ext cx="4084320" cy="2945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EEF2F8"/>
                </a:solidFill>
                <a:latin typeface="Arial"/>
                <a:ea typeface="Arial"/>
                <a:cs typeface="Arial"/>
                <a:sym typeface="Arial"/>
              </a:rPr>
              <a:t>Relatórios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EEF2F8"/>
                </a:solidFill>
                <a:latin typeface="Arial"/>
                <a:ea typeface="Arial"/>
                <a:cs typeface="Arial"/>
                <a:sym typeface="Arial"/>
              </a:rPr>
              <a:t>Backups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EEF2F8"/>
                </a:solidFill>
                <a:latin typeface="Arial"/>
                <a:ea typeface="Arial"/>
                <a:cs typeface="Arial"/>
                <a:sym typeface="Arial"/>
              </a:rPr>
              <a:t>Melhorias na usabilidade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EEF2F8"/>
                </a:solidFill>
                <a:latin typeface="Arial"/>
                <a:ea typeface="Arial"/>
                <a:cs typeface="Arial"/>
                <a:sym typeface="Arial"/>
              </a:rPr>
              <a:t>Melhorias no banco de dados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97280" y="8869680"/>
            <a:ext cx="16093440" cy="640080"/>
            <a:chOff x="0" y="0"/>
            <a:chExt cx="21457920" cy="853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45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909" r="0" b="-43990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214579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8A97B0"/>
                  </a:solidFill>
                  <a:latin typeface="Arial"/>
                  <a:ea typeface="Arial"/>
                  <a:cs typeface="Arial"/>
                  <a:sym typeface="Arial"/>
                </a:rPr>
                <a:t>GitHub: github.com/henriquethe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DAHZPiEL-Ac</dc:identifier>
  <dcterms:modified xsi:type="dcterms:W3CDTF">2011-08-01T06:04:30Z</dcterms:modified>
  <cp:revision>1</cp:revision>
  <dc:title>Sistema-Cantina.pptx</dc:title>
</cp:coreProperties>
</file>